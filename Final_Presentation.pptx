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21"/>
  </p:notesMasterIdLst>
  <p:handoutMasterIdLst>
    <p:handoutMasterId r:id="rId22"/>
  </p:handoutMasterIdLst>
  <p:sldIdLst>
    <p:sldId id="1935" r:id="rId2"/>
    <p:sldId id="1951" r:id="rId3"/>
    <p:sldId id="1983" r:id="rId4"/>
    <p:sldId id="1984" r:id="rId5"/>
    <p:sldId id="1985" r:id="rId6"/>
    <p:sldId id="1986" r:id="rId7"/>
    <p:sldId id="1987" r:id="rId8"/>
    <p:sldId id="1988" r:id="rId9"/>
    <p:sldId id="1989" r:id="rId10"/>
    <p:sldId id="1990" r:id="rId11"/>
    <p:sldId id="1991" r:id="rId12"/>
    <p:sldId id="1995" r:id="rId13"/>
    <p:sldId id="1996" r:id="rId14"/>
    <p:sldId id="1992" r:id="rId15"/>
    <p:sldId id="1993" r:id="rId16"/>
    <p:sldId id="1982" r:id="rId17"/>
    <p:sldId id="1981" r:id="rId18"/>
    <p:sldId id="1963" r:id="rId19"/>
    <p:sldId id="1950" r:id="rId20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83CCEB"/>
    <a:srgbClr val="C0E6F5"/>
    <a:srgbClr val="960000"/>
    <a:srgbClr val="6109FF"/>
    <a:srgbClr val="F2F2F2"/>
    <a:srgbClr val="FFBC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14" autoAdjust="0"/>
    <p:restoredTop sz="94068" autoAdjust="0"/>
  </p:normalViewPr>
  <p:slideViewPr>
    <p:cSldViewPr snapToGrid="0">
      <p:cViewPr varScale="1">
        <p:scale>
          <a:sx n="96" d="100"/>
          <a:sy n="96" d="100"/>
        </p:scale>
        <p:origin x="52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3894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29A5B5B-BA42-7F40-A451-C069E5F2AD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C40C0-284D-294B-81AA-06AC658E6F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4628003-0FBA-A54E-A68C-FDC9D58E7C1C}" type="datetimeFigureOut">
              <a:rPr lang="en-US" smtClean="0"/>
              <a:t>12/01/2025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50E93-B501-1241-B606-E9FD3C54B3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F8C278-7FF1-4D4F-BBB1-086A6F2F4A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D63BFF2-37E2-9944-8557-780405E1B4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438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3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C3ABEF8-7173-4009-9FAA-9F7A030B9149}" type="datetimeFigureOut">
              <a:rPr lang="en-US" smtClean="0"/>
              <a:t>12/01/2025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9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B810CD74-2C8B-4878-921B-833EEDFB50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07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0CD74-2C8B-4878-921B-833EEDFB501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633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0CD74-2C8B-4878-921B-833EEDFB501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108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10CD74-2C8B-4878-921B-833EEDFB501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245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 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pic>
        <p:nvPicPr>
          <p:cNvPr id="1026" name="Picture 2" descr="White logo on a heritage blue background">
            <a:extLst>
              <a:ext uri="{FF2B5EF4-FFF2-40B4-BE49-F238E27FC236}">
                <a16:creationId xmlns:a16="http://schemas.microsoft.com/office/drawing/2014/main" id="{D9BDCD0A-FF1A-460E-9763-C5DA3B32CAF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900" y="95382"/>
            <a:ext cx="2594517" cy="1730523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8057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1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91440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91440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8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4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20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4" y="0"/>
            <a:ext cx="12189624" cy="6856664"/>
          </a:xfrm>
          <a:prstGeom prst="rect">
            <a:avLst/>
          </a:prstGeom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7532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66530"/>
            <a:ext cx="5334000" cy="5734880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13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929634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324100"/>
            <a:ext cx="5410200" cy="1572399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85800" y="4038600"/>
            <a:ext cx="5410200" cy="838200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6858001" y="570368"/>
            <a:ext cx="5334000" cy="5721790"/>
          </a:xfr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7009" y="95382"/>
            <a:ext cx="3178301" cy="1309907"/>
          </a:xfrm>
          <a:prstGeom prst="rect">
            <a:avLst/>
          </a:prstGeom>
        </p:spPr>
      </p:pic>
      <p:sp>
        <p:nvSpPr>
          <p:cNvPr id="9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4876800"/>
            <a:ext cx="5410200" cy="1333500"/>
          </a:xfr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20926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4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94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3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344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8997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4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Slide Number Placeholder 24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-2370" y="0"/>
            <a:ext cx="4063997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1628" y="0"/>
            <a:ext cx="406399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6" cy="3440287"/>
          </a:xfrm>
          <a:solidFill>
            <a:schemeClr val="tx2"/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9" cy="198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3582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4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ate Placeholder 1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67200" y="3886201"/>
            <a:ext cx="6972300" cy="609600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67200" y="4495800"/>
            <a:ext cx="6972300" cy="571499"/>
          </a:xfrm>
        </p:spPr>
        <p:txBody>
          <a:bodyPr lIns="0" tIns="0" rIns="0" bIns="0"/>
          <a:lstStyle>
            <a:lvl1pPr marL="0" indent="0" algn="l">
              <a:buNone/>
              <a:defRPr sz="2400" b="1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267200" y="5067300"/>
            <a:ext cx="4010128" cy="1143000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1" name="Picture Placeholder 7"/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4063999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Picture Placeholder 7"/>
          <p:cNvSpPr>
            <a:spLocks noGrp="1"/>
          </p:cNvSpPr>
          <p:nvPr>
            <p:ph type="pic" sz="quarter" idx="16" hasCustomPrompt="1"/>
          </p:nvPr>
        </p:nvSpPr>
        <p:spPr>
          <a:xfrm>
            <a:off x="4064000" y="0"/>
            <a:ext cx="406162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Picture Placeholder 7"/>
          <p:cNvSpPr>
            <a:spLocks noGrp="1"/>
          </p:cNvSpPr>
          <p:nvPr>
            <p:ph type="pic" sz="quarter" idx="17" hasCustomPrompt="1"/>
          </p:nvPr>
        </p:nvSpPr>
        <p:spPr>
          <a:xfrm>
            <a:off x="8125625" y="0"/>
            <a:ext cx="4066375" cy="3440287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Click to add image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3778686" y="3886200"/>
            <a:ext cx="0" cy="232410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5475" y="3411128"/>
            <a:ext cx="3030108" cy="1982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66843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5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61627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2245"/>
          </a:xfrm>
        </p:spPr>
        <p:txBody>
          <a:bodyPr anchor="t">
            <a:normAutofit/>
          </a:bodyPr>
          <a:lstStyle>
            <a:lvl1pPr algn="l"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 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sz="1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0"/>
            <a:ext cx="6819900" cy="342899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0102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bg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25" name="Straight Connector 24"/>
          <p:cNvCxnSpPr/>
          <p:nvPr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101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693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5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191000" y="1028700"/>
            <a:ext cx="6819900" cy="1485900"/>
          </a:xfrm>
        </p:spPr>
        <p:txBody>
          <a:bodyPr anchor="t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  <a:br>
              <a:rPr lang="en-US" dirty="0"/>
            </a:br>
            <a:r>
              <a:rPr lang="en-US" dirty="0"/>
              <a:t>(recommended for titles that </a:t>
            </a:r>
            <a:br>
              <a:rPr lang="en-US" dirty="0"/>
            </a:br>
            <a:r>
              <a:rPr lang="en-US" dirty="0"/>
              <a:t>are 2-3 lines long)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4338" y="532082"/>
            <a:ext cx="3271029" cy="213969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191000" y="3855309"/>
            <a:ext cx="681990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4191000" y="3976706"/>
            <a:ext cx="6819900" cy="2233594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200"/>
              </a:spcBef>
              <a:buNone/>
              <a:defRPr lang="en-US" sz="1000" smtClean="0">
                <a:solidFill>
                  <a:schemeClr val="accent1"/>
                </a:solidFill>
                <a:effectLst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r>
              <a:rPr lang="en-US" dirty="0">
                <a:effectLst/>
                <a:latin typeface="Helvetica" charset="0"/>
              </a:rPr>
              <a:t>Click to add classification text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1" y="2514601"/>
            <a:ext cx="6819900" cy="354954"/>
          </a:xfrm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191000" y="2869555"/>
            <a:ext cx="6819900" cy="790832"/>
          </a:xfr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buNone/>
              <a:defRPr sz="120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Name</a:t>
            </a:r>
            <a:br>
              <a:rPr lang="en-US" dirty="0"/>
            </a:br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Contact 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518" y="2541694"/>
            <a:ext cx="2210142" cy="497572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11100 Johns Hopkins Road </a:t>
            </a:r>
            <a:b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</a:br>
            <a:r>
              <a:rPr lang="en-US" sz="1200" dirty="0">
                <a:solidFill>
                  <a:schemeClr val="accent1"/>
                </a:solidFill>
                <a:latin typeface="+mn-lt"/>
                <a:ea typeface="Myriad Pro" charset="0"/>
                <a:cs typeface="Myriad Pro" charset="0"/>
              </a:rPr>
              <a:t>Laurel, MD 20723-6099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1082518" y="2387995"/>
            <a:ext cx="2210142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2060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5" pos="693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 hasCustomPrompt="1"/>
          </p:nvPr>
        </p:nvSpPr>
        <p:spPr>
          <a:xfrm>
            <a:off x="952500" y="419100"/>
            <a:ext cx="10287000" cy="762000"/>
          </a:xfrm>
        </p:spPr>
        <p:txBody>
          <a:bodyPr anchor="ctr"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952500" y="1324598"/>
            <a:ext cx="10287000" cy="4885702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893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2735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10287000" cy="4724400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95015"/>
            <a:ext cx="11277600" cy="386085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415EE8-C428-E4E6-6818-C102C42A4C57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962789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181100"/>
            <a:ext cx="4953000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181100"/>
            <a:ext cx="4952998" cy="41762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Date Placeholder 1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Slide Number Placeholder 19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152850-C0AB-BE77-F959-10EE1CEA3C9F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798466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um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00" y="1485900"/>
            <a:ext cx="4953000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286501" y="1485900"/>
            <a:ext cx="4952998" cy="3871457"/>
          </a:xfrm>
        </p:spPr>
        <p:txBody>
          <a:bodyPr/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73C1BC-9DBE-5DE5-CBE3-B427ECF63594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4199367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181100"/>
            <a:ext cx="4953000" cy="41767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DBB0C0-F07B-D16B-BA29-3FDC350C53CF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9437955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Comparison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hart Placeholder 8"/>
          <p:cNvSpPr>
            <a:spLocks noGrp="1"/>
          </p:cNvSpPr>
          <p:nvPr>
            <p:ph type="chart" sz="quarter" idx="16" hasCustomPrompt="1"/>
          </p:nvPr>
        </p:nvSpPr>
        <p:spPr>
          <a:xfrm>
            <a:off x="952500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5" name="Chart Placeholder 8"/>
          <p:cNvSpPr>
            <a:spLocks noGrp="1"/>
          </p:cNvSpPr>
          <p:nvPr>
            <p:ph type="chart" sz="quarter" idx="17" hasCustomPrompt="1"/>
          </p:nvPr>
        </p:nvSpPr>
        <p:spPr>
          <a:xfrm>
            <a:off x="6286501" y="1485900"/>
            <a:ext cx="4953000" cy="387191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chart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602236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5" hasCustomPrompt="1"/>
          </p:nvPr>
        </p:nvSpPr>
        <p:spPr>
          <a:xfrm>
            <a:off x="6936237" y="5548312"/>
            <a:ext cx="3653528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chart label</a:t>
            </a:r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64598B-4BEC-BC8F-8B9A-411FDE30EF99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889570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24301"/>
            <a:ext cx="2988364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6195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3924301"/>
            <a:ext cx="2979692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6195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3924301"/>
            <a:ext cx="2983450" cy="12573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6195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181100"/>
            <a:ext cx="0" cy="40005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98840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1811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1811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BDAC03-5FCE-5C6D-BC7C-E015DF7C4154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410933159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29101"/>
            <a:ext cx="2988364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924300"/>
            <a:ext cx="2988405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4606154" y="4229101"/>
            <a:ext cx="2979692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4606109" y="3924300"/>
            <a:ext cx="297973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8256050" y="4229101"/>
            <a:ext cx="2983450" cy="9525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8257327" y="3924300"/>
            <a:ext cx="2982173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4277927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920948" y="1485900"/>
            <a:ext cx="0" cy="369570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899"/>
            <a:ext cx="2988409" cy="2231136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4606105" y="1485900"/>
            <a:ext cx="297973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8257323" y="1485900"/>
            <a:ext cx="2982177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1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4"/>
            <a:ext cx="10286999" cy="661986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DCCCDD-6A2F-F551-BAAE-3C7D1EB06884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89746875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-Column Fea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3938459"/>
            <a:ext cx="2301354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3938459"/>
            <a:ext cx="233224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633658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3938459"/>
            <a:ext cx="2302372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633658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18555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18555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645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3938459"/>
            <a:ext cx="2338690" cy="1243142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633658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18555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B4BD962-5098-DB23-3408-A1D71516F904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42691420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-Column Featur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952544" y="4216231"/>
            <a:ext cx="2301354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1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idx="17" hasCustomPrompt="1"/>
          </p:nvPr>
        </p:nvSpPr>
        <p:spPr>
          <a:xfrm>
            <a:off x="3592038" y="4216231"/>
            <a:ext cx="233224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8" hasCustomPrompt="1"/>
          </p:nvPr>
        </p:nvSpPr>
        <p:spPr>
          <a:xfrm>
            <a:off x="3591980" y="3911430"/>
            <a:ext cx="2332272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24" name="Content Placeholder 2"/>
          <p:cNvSpPr>
            <a:spLocks noGrp="1"/>
          </p:cNvSpPr>
          <p:nvPr>
            <p:ph idx="19" hasCustomPrompt="1"/>
          </p:nvPr>
        </p:nvSpPr>
        <p:spPr>
          <a:xfrm>
            <a:off x="6260210" y="4216231"/>
            <a:ext cx="2302372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25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6262343" y="3911430"/>
            <a:ext cx="2301386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7" name="Picture Placeholder 8"/>
          <p:cNvSpPr>
            <a:spLocks noGrp="1"/>
          </p:cNvSpPr>
          <p:nvPr>
            <p:ph type="pic" sz="quarter" idx="22" hasCustomPrompt="1"/>
          </p:nvPr>
        </p:nvSpPr>
        <p:spPr>
          <a:xfrm>
            <a:off x="3591975" y="1485900"/>
            <a:ext cx="2332275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8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6262335" y="1485900"/>
            <a:ext cx="2301389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9" name="Content Placeholder 2"/>
          <p:cNvSpPr>
            <a:spLocks noGrp="1"/>
          </p:cNvSpPr>
          <p:nvPr>
            <p:ph idx="27" hasCustomPrompt="1"/>
          </p:nvPr>
        </p:nvSpPr>
        <p:spPr>
          <a:xfrm>
            <a:off x="8899761" y="4216231"/>
            <a:ext cx="2338690" cy="965370"/>
          </a:xfrm>
        </p:spPr>
        <p:txBody>
          <a:bodyPr>
            <a:normAutofit/>
          </a:bodyPr>
          <a:lstStyle>
            <a:lvl1pPr marL="0" indent="0">
              <a:spcBef>
                <a:spcPts val="60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text 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8901816" y="3911430"/>
            <a:ext cx="2337688" cy="304800"/>
          </a:xfrm>
        </p:spPr>
        <p:txBody>
          <a:bodyPr anchor="t">
            <a:no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heading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8901808" y="1485900"/>
            <a:ext cx="2337691" cy="2228937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21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952500" y="5548312"/>
            <a:ext cx="10286999" cy="661988"/>
          </a:xfrm>
          <a:solidFill>
            <a:schemeClr val="accent2"/>
          </a:solidFill>
          <a:ln w="19050">
            <a:noFill/>
          </a:ln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 dirty="0"/>
              <a:t>Click to add callout text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1F2A96-3CFB-5140-72AE-40B5D9488392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0634606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28299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1811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28299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1811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1837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5433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1837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5433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7620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32D435-0069-4542-8669-58EFE49F227D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8413194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Gallery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952500" y="3134727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952500" y="1485900"/>
            <a:ext cx="2456925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3581400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23" hasCustomPrompt="1"/>
          </p:nvPr>
        </p:nvSpPr>
        <p:spPr>
          <a:xfrm>
            <a:off x="3577696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4" hasCustomPrompt="1"/>
          </p:nvPr>
        </p:nvSpPr>
        <p:spPr>
          <a:xfrm>
            <a:off x="6181726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29" name="Picture Placeholder 8"/>
          <p:cNvSpPr>
            <a:spLocks noGrp="1"/>
          </p:cNvSpPr>
          <p:nvPr>
            <p:ph type="pic" sz="quarter" idx="25" hasCustomPrompt="1"/>
          </p:nvPr>
        </p:nvSpPr>
        <p:spPr>
          <a:xfrm>
            <a:off x="6185429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0" name="Text Placeholder 9"/>
          <p:cNvSpPr>
            <a:spLocks noGrp="1"/>
          </p:cNvSpPr>
          <p:nvPr>
            <p:ph type="body" sz="quarter" idx="26" hasCustomPrompt="1"/>
          </p:nvPr>
        </p:nvSpPr>
        <p:spPr>
          <a:xfrm>
            <a:off x="8793163" y="3134727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1" name="Picture Placeholder 8"/>
          <p:cNvSpPr>
            <a:spLocks noGrp="1"/>
          </p:cNvSpPr>
          <p:nvPr>
            <p:ph type="pic" sz="quarter" idx="27" hasCustomPrompt="1"/>
          </p:nvPr>
        </p:nvSpPr>
        <p:spPr>
          <a:xfrm>
            <a:off x="8793163" y="1485900"/>
            <a:ext cx="2446337" cy="151326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2" name="Text Placeholder 9"/>
          <p:cNvSpPr>
            <a:spLocks noGrp="1"/>
          </p:cNvSpPr>
          <p:nvPr>
            <p:ph type="body" sz="quarter" idx="28" hasCustomPrompt="1"/>
          </p:nvPr>
        </p:nvSpPr>
        <p:spPr>
          <a:xfrm>
            <a:off x="952500" y="5488571"/>
            <a:ext cx="2456925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3" name="Picture Placeholder 8"/>
          <p:cNvSpPr>
            <a:spLocks noGrp="1"/>
          </p:cNvSpPr>
          <p:nvPr>
            <p:ph type="pic" sz="quarter" idx="29" hasCustomPrompt="1"/>
          </p:nvPr>
        </p:nvSpPr>
        <p:spPr>
          <a:xfrm>
            <a:off x="952500" y="3848100"/>
            <a:ext cx="2456925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4" name="Text Placeholder 9"/>
          <p:cNvSpPr>
            <a:spLocks noGrp="1"/>
          </p:cNvSpPr>
          <p:nvPr>
            <p:ph type="body" sz="quarter" idx="30" hasCustomPrompt="1"/>
          </p:nvPr>
        </p:nvSpPr>
        <p:spPr>
          <a:xfrm>
            <a:off x="3581400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5" name="Picture Placeholder 8"/>
          <p:cNvSpPr>
            <a:spLocks noGrp="1"/>
          </p:cNvSpPr>
          <p:nvPr>
            <p:ph type="pic" sz="quarter" idx="31" hasCustomPrompt="1"/>
          </p:nvPr>
        </p:nvSpPr>
        <p:spPr>
          <a:xfrm>
            <a:off x="3577696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6" name="Text Placeholder 9"/>
          <p:cNvSpPr>
            <a:spLocks noGrp="1"/>
          </p:cNvSpPr>
          <p:nvPr>
            <p:ph type="body" sz="quarter" idx="32" hasCustomPrompt="1"/>
          </p:nvPr>
        </p:nvSpPr>
        <p:spPr>
          <a:xfrm>
            <a:off x="6181726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7" name="Picture Placeholder 8"/>
          <p:cNvSpPr>
            <a:spLocks noGrp="1"/>
          </p:cNvSpPr>
          <p:nvPr>
            <p:ph type="pic" sz="quarter" idx="33" hasCustomPrompt="1"/>
          </p:nvPr>
        </p:nvSpPr>
        <p:spPr>
          <a:xfrm>
            <a:off x="6185429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38" name="Text Placeholder 9"/>
          <p:cNvSpPr>
            <a:spLocks noGrp="1"/>
          </p:cNvSpPr>
          <p:nvPr>
            <p:ph type="body" sz="quarter" idx="34" hasCustomPrompt="1"/>
          </p:nvPr>
        </p:nvSpPr>
        <p:spPr>
          <a:xfrm>
            <a:off x="8793163" y="5488571"/>
            <a:ext cx="2446337" cy="258345"/>
          </a:xfrm>
        </p:spPr>
        <p:txBody>
          <a:bodyPr anchor="t">
            <a:noAutofit/>
          </a:bodyPr>
          <a:lstStyle>
            <a:lvl1pPr marL="0" indent="0">
              <a:buNone/>
              <a:defRPr sz="1200" b="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600" b="1">
                <a:solidFill>
                  <a:schemeClr val="accent3"/>
                </a:solidFill>
              </a:defRPr>
            </a:lvl2pPr>
            <a:lvl3pPr marL="914400" indent="0">
              <a:buNone/>
              <a:defRPr sz="1600" b="1">
                <a:solidFill>
                  <a:schemeClr val="accent3"/>
                </a:solidFill>
              </a:defRPr>
            </a:lvl3pPr>
            <a:lvl4pPr marL="1371600" indent="0">
              <a:buNone/>
              <a:defRPr sz="1600" b="1">
                <a:solidFill>
                  <a:schemeClr val="accent3"/>
                </a:solidFill>
              </a:defRPr>
            </a:lvl4pPr>
            <a:lvl5pPr marL="1828800" indent="0">
              <a:buNone/>
              <a:defRPr sz="1600" b="1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39" name="Picture Placeholder 8"/>
          <p:cNvSpPr>
            <a:spLocks noGrp="1"/>
          </p:cNvSpPr>
          <p:nvPr>
            <p:ph type="pic" sz="quarter" idx="35" hasCustomPrompt="1"/>
          </p:nvPr>
        </p:nvSpPr>
        <p:spPr>
          <a:xfrm>
            <a:off x="8793163" y="3848100"/>
            <a:ext cx="2446337" cy="1504912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C8E4E7-AF02-2157-4B33-602A5DE8D539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378159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1181100"/>
            <a:ext cx="9144000" cy="1143000"/>
          </a:xfrm>
        </p:spPr>
        <p:txBody>
          <a:bodyPr anchor="b">
            <a:no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798" y="2437483"/>
            <a:ext cx="9145706" cy="5013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A7C4A9-D014-416C-4693-7D803385140D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5237472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432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7" y="1459"/>
            <a:ext cx="12187996" cy="64990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3825129"/>
            <a:ext cx="9144000" cy="594360"/>
          </a:xfrm>
        </p:spPr>
        <p:txBody>
          <a:bodyPr anchor="t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85800" y="4415475"/>
            <a:ext cx="9144000" cy="499215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5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-9053"/>
            <a:ext cx="12192000" cy="3441700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70BCA6-4CE7-2C5F-3B91-6ADE445DD3A1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2464743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quote or interesting fact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D80BFA-5B11-D7EB-B365-740BD8CFD587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273694995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llou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4229100" y="0"/>
            <a:ext cx="7962900" cy="6500474"/>
          </a:xfr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2705100"/>
            <a:ext cx="3225800" cy="28448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paragraph text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457200" y="419100"/>
            <a:ext cx="3225800" cy="1905000"/>
          </a:xfrm>
        </p:spPr>
        <p:txBody>
          <a:bodyPr anchor="b">
            <a:normAutofit/>
          </a:bodyPr>
          <a:lstStyle>
            <a:lvl1pPr marL="0" indent="0">
              <a:buNone/>
              <a:defRPr sz="3200" baseline="0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quote or interesting fact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V="1">
            <a:off x="4229100" y="1"/>
            <a:ext cx="0" cy="6500473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e Placeholder 11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A32955-5FE2-6FDF-E4F2-9A3186CF0E3A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30084491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1"/>
            <a:ext cx="12192000" cy="6500473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image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2" hasCustomPrompt="1"/>
          </p:nvPr>
        </p:nvSpPr>
        <p:spPr>
          <a:xfrm>
            <a:off x="8089900" y="5462403"/>
            <a:ext cx="3644900" cy="747897"/>
          </a:xfrm>
          <a:solidFill>
            <a:schemeClr val="bg1"/>
          </a:solidFill>
        </p:spPr>
        <p:txBody>
          <a:bodyPr lIns="365760" tIns="274320" rIns="365760" bIns="274320" anchor="t" anchorCtr="0">
            <a:spAutoFit/>
          </a:bodyPr>
          <a:lstStyle>
            <a:lvl1pPr marL="0" indent="0">
              <a:buNone/>
              <a:defRPr sz="1200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image caption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8ADDFD-3FFC-51B7-F188-3C49480D81AD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8787648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88D581-F889-7288-519D-19E5341B3EED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38724361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42899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801380"/>
            <a:ext cx="11277600" cy="379720"/>
          </a:xfrm>
        </p:spPr>
        <p:txBody>
          <a:bodyPr>
            <a:normAutofit/>
          </a:bodyPr>
          <a:lstStyle>
            <a:lvl1pPr marL="0" indent="0">
              <a:buNone/>
              <a:defRPr sz="200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sz="2000" b="0" dirty="0"/>
              <a:t>Click to add subtitle</a:t>
            </a:r>
            <a:endParaRPr lang="en-US" sz="1600" b="0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899F10-9776-D961-9A8D-4CC534BA289E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2995189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o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6500488"/>
            <a:ext cx="12192000" cy="356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6500488"/>
            <a:ext cx="12192000" cy="0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11428508" y="6604000"/>
            <a:ext cx="0" cy="155141"/>
          </a:xfrm>
          <a:prstGeom prst="line">
            <a:avLst/>
          </a:prstGeom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9703" y="6565216"/>
            <a:ext cx="212200" cy="228116"/>
          </a:xfrm>
          <a:prstGeom prst="rect">
            <a:avLst/>
          </a:prstGeom>
        </p:spPr>
      </p:pic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Media Placeholder 10"/>
          <p:cNvSpPr>
            <a:spLocks noGrp="1" noChangeAspect="1"/>
          </p:cNvSpPr>
          <p:nvPr>
            <p:ph type="media" sz="quarter" idx="13" hasCustomPrompt="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Click to add video</a:t>
            </a:r>
          </a:p>
        </p:txBody>
      </p:sp>
    </p:spTree>
    <p:extLst>
      <p:ext uri="{BB962C8B-B14F-4D97-AF65-F5344CB8AC3E}">
        <p14:creationId xmlns:p14="http://schemas.microsoft.com/office/powerpoint/2010/main" val="696347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D1ECAE8-4E1B-854C-0991-2D77AC1820F5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3798571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Chart with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 hasCustomPrompt="1"/>
          </p:nvPr>
        </p:nvSpPr>
        <p:spPr>
          <a:xfrm>
            <a:off x="457200" y="419100"/>
            <a:ext cx="11277600" cy="389709"/>
          </a:xfrm>
        </p:spPr>
        <p:txBody>
          <a:bodyPr>
            <a:noAutofit/>
          </a:bodyPr>
          <a:lstStyle>
            <a:lvl1pPr>
              <a:defRPr sz="2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6096000" y="887620"/>
            <a:ext cx="0" cy="56124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0" y="3695999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>
            <a:off x="0" y="88442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144787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3" name="Text Placeholder 16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1154384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55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4295396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6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4001905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59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6442617" y="1444158"/>
            <a:ext cx="5292183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0" name="Text Placeholder 16"/>
          <p:cNvSpPr>
            <a:spLocks noGrp="1"/>
          </p:cNvSpPr>
          <p:nvPr>
            <p:ph type="body" sz="quarter" idx="32" hasCustomPrompt="1"/>
          </p:nvPr>
        </p:nvSpPr>
        <p:spPr>
          <a:xfrm>
            <a:off x="6442616" y="1150667"/>
            <a:ext cx="5292183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62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6438900" y="4291679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</a:t>
            </a:r>
            <a:r>
              <a:rPr lang="en-US"/>
              <a:t>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Text Placeholder 16"/>
          <p:cNvSpPr>
            <a:spLocks noGrp="1"/>
          </p:cNvSpPr>
          <p:nvPr>
            <p:ph type="body" sz="quarter" idx="36" hasCustomPrompt="1"/>
          </p:nvPr>
        </p:nvSpPr>
        <p:spPr>
          <a:xfrm>
            <a:off x="6438900" y="3998188"/>
            <a:ext cx="5295900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CD5CCC-78FA-9DCF-AEB6-BD4DBDAC89ED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8758739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d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5"/>
          <p:cNvCxnSpPr/>
          <p:nvPr/>
        </p:nvCxnSpPr>
        <p:spPr>
          <a:xfrm>
            <a:off x="6096000" y="0"/>
            <a:ext cx="0" cy="64992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0" y="3255080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9" hasCustomPrompt="1"/>
          </p:nvPr>
        </p:nvSpPr>
        <p:spPr>
          <a:xfrm>
            <a:off x="457200" y="419100"/>
            <a:ext cx="529682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26" name="Text Placeholder 14"/>
          <p:cNvSpPr>
            <a:spLocks noGrp="1"/>
          </p:cNvSpPr>
          <p:nvPr>
            <p:ph type="body" sz="quarter" idx="27" hasCustomPrompt="1"/>
          </p:nvPr>
        </p:nvSpPr>
        <p:spPr>
          <a:xfrm>
            <a:off x="457201" y="3880422"/>
            <a:ext cx="5295899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16"/>
          <p:cNvSpPr>
            <a:spLocks noGrp="1"/>
          </p:cNvSpPr>
          <p:nvPr>
            <p:ph type="body" sz="quarter" idx="28" hasCustomPrompt="1"/>
          </p:nvPr>
        </p:nvSpPr>
        <p:spPr>
          <a:xfrm>
            <a:off x="457199" y="3586931"/>
            <a:ext cx="5295901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30" name="Text Placeholder 14"/>
          <p:cNvSpPr>
            <a:spLocks noGrp="1"/>
          </p:cNvSpPr>
          <p:nvPr>
            <p:ph type="body" sz="quarter" idx="31" hasCustomPrompt="1"/>
          </p:nvPr>
        </p:nvSpPr>
        <p:spPr>
          <a:xfrm>
            <a:off x="6438900" y="712591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16"/>
          <p:cNvSpPr>
            <a:spLocks noGrp="1"/>
          </p:cNvSpPr>
          <p:nvPr>
            <p:ph type="body" sz="quarter" idx="32" hasCustomPrompt="1"/>
          </p:nvPr>
        </p:nvSpPr>
        <p:spPr>
          <a:xfrm>
            <a:off x="6438901" y="419100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34" name="Text Placeholder 14"/>
          <p:cNvSpPr>
            <a:spLocks noGrp="1"/>
          </p:cNvSpPr>
          <p:nvPr>
            <p:ph type="body" sz="quarter" idx="35" hasCustomPrompt="1"/>
          </p:nvPr>
        </p:nvSpPr>
        <p:spPr>
          <a:xfrm>
            <a:off x="6438900" y="3876705"/>
            <a:ext cx="5295900" cy="1210588"/>
          </a:xfrm>
        </p:spPr>
        <p:txBody>
          <a:bodyPr wrap="square" lIns="0" tIns="0" rIns="0" bIns="0">
            <a:normAutofit/>
          </a:bodyPr>
          <a:lstStyle>
            <a:lvl1pPr marL="137160" indent="-137160">
              <a:lnSpc>
                <a:spcPct val="100000"/>
              </a:lnSpc>
              <a:spcBef>
                <a:spcPts val="500"/>
              </a:spcBef>
              <a:defRPr sz="1400">
                <a:solidFill>
                  <a:schemeClr val="tx2">
                    <a:lumMod val="75000"/>
                  </a:schemeClr>
                </a:solidFill>
              </a:defRPr>
            </a:lvl1pPr>
            <a:lvl2pPr marL="32004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2pPr>
            <a:lvl3pPr marL="59436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3pPr>
            <a:lvl4pPr marL="86868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4pPr>
            <a:lvl5pPr marL="1143000" indent="-137160">
              <a:spcBef>
                <a:spcPts val="500"/>
              </a:spcBef>
              <a:defRPr sz="1200">
                <a:solidFill>
                  <a:schemeClr val="tx2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Text Placeholder 16"/>
          <p:cNvSpPr>
            <a:spLocks noGrp="1"/>
          </p:cNvSpPr>
          <p:nvPr>
            <p:ph type="body" sz="quarter" idx="36" hasCustomPrompt="1"/>
          </p:nvPr>
        </p:nvSpPr>
        <p:spPr>
          <a:xfrm>
            <a:off x="6438901" y="3583214"/>
            <a:ext cx="5293104" cy="221599"/>
          </a:xfrm>
        </p:spPr>
        <p:txBody>
          <a:bodyPr wrap="square" lIns="0" tIns="0" rIns="0" bIns="0">
            <a:normAutofit/>
          </a:bodyPr>
          <a:lstStyle>
            <a:lvl1pPr marL="0" indent="0">
              <a:buNone/>
              <a:defRPr sz="1600" b="1" baseline="0">
                <a:solidFill>
                  <a:schemeClr val="accent2"/>
                </a:solidFill>
              </a:defRPr>
            </a:lvl1pPr>
            <a:lvl2pPr marL="457200" indent="0">
              <a:buNone/>
              <a:defRPr>
                <a:solidFill>
                  <a:schemeClr val="accent3"/>
                </a:solidFill>
              </a:defRPr>
            </a:lvl2pPr>
            <a:lvl3pPr marL="91440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quad title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A739B0-1484-E093-35B9-CD3A99D11BA1}"/>
              </a:ext>
            </a:extLst>
          </p:cNvPr>
          <p:cNvSpPr/>
          <p:nvPr userDrawn="1"/>
        </p:nvSpPr>
        <p:spPr>
          <a:xfrm>
            <a:off x="341831" y="6551750"/>
            <a:ext cx="374947" cy="267795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 fontScale="70000" lnSpcReduction="20000"/>
          </a:bodyPr>
          <a:lstStyle/>
          <a:p>
            <a:pPr algn="ctr"/>
            <a:endParaRPr lang="en-US" sz="2000" dirty="0" err="1"/>
          </a:p>
        </p:txBody>
      </p:sp>
    </p:spTree>
    <p:extLst>
      <p:ext uri="{BB962C8B-B14F-4D97-AF65-F5344CB8AC3E}">
        <p14:creationId xmlns:p14="http://schemas.microsoft.com/office/powerpoint/2010/main" val="16868426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667"/>
            <a:ext cx="12189624" cy="6856664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-1" y="4358640"/>
            <a:ext cx="12192000" cy="249936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3112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291470"/>
            <a:ext cx="12192000" cy="5665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75" y="667"/>
            <a:ext cx="12189624" cy="68566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56163" y="1371600"/>
            <a:ext cx="5479673" cy="358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4356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7548-C4D4-4DB1-87F4-65ED937B3DB2}" type="datetimeFigureOut">
              <a:rPr lang="en-US" smtClean="0"/>
              <a:t>12/01/2025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65DD6-0D3C-4DC3-998A-232943F853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426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image" Target="../media/image2.png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F2E96BD-2C83-2C4E-DF9E-43C7E43A793A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email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336"/>
            <a:ext cx="12192000" cy="6856664"/>
          </a:xfrm>
          <a:prstGeom prst="rect">
            <a:avLst/>
          </a:prstGeom>
          <a:ln>
            <a:noFill/>
          </a:ln>
        </p:spPr>
      </p:pic>
      <p:sp>
        <p:nvSpPr>
          <p:cNvPr id="13" name="Rectangle 12"/>
          <p:cNvSpPr/>
          <p:nvPr/>
        </p:nvSpPr>
        <p:spPr>
          <a:xfrm>
            <a:off x="0" y="6499798"/>
            <a:ext cx="12192000" cy="35661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0" y="6500474"/>
            <a:ext cx="12192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52500" y="419100"/>
            <a:ext cx="10287000" cy="76200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effectLst>
            <a:softEdge rad="31750"/>
          </a:effectLst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2500" y="1341690"/>
            <a:ext cx="10287000" cy="486861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effectLst>
            <a:softEdge rad="31750"/>
          </a:effectLst>
        </p:spPr>
        <p:txBody>
          <a:bodyPr vert="horz" lIns="91440" tIns="91440" rIns="91440" bIns="0" rtlCol="0">
            <a:normAutofit/>
          </a:bodyPr>
          <a:lstStyle/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36810" y="6500814"/>
            <a:ext cx="1371600" cy="357186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r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2416" y="6500814"/>
            <a:ext cx="3197406" cy="355600"/>
          </a:xfrm>
          <a:prstGeom prst="rect">
            <a:avLst/>
          </a:prstGeom>
        </p:spPr>
        <p:txBody>
          <a:bodyPr vert="horz" lIns="91440" tIns="0" rIns="91440" bIns="0" rtlCol="0" anchor="ctr"/>
          <a:lstStyle>
            <a:lvl1pPr algn="l"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40302" y="6500474"/>
            <a:ext cx="381000" cy="35752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1">
                <a:solidFill>
                  <a:schemeClr val="accent2"/>
                </a:solidFill>
              </a:defRPr>
            </a:lvl1pPr>
          </a:lstStyle>
          <a:p>
            <a:fld id="{A2D3FCAD-823A-476E-8B64-08133BA4013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1424239" y="6604000"/>
            <a:ext cx="0" cy="155141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 blue shield with a book and a globe&#10;&#10;AI-generated content may be incorrect.">
            <a:extLst>
              <a:ext uri="{FF2B5EF4-FFF2-40B4-BE49-F238E27FC236}">
                <a16:creationId xmlns:a16="http://schemas.microsoft.com/office/drawing/2014/main" id="{053D45A0-C5FA-D505-74D7-55B0FC9256BF}"/>
              </a:ext>
            </a:extLst>
          </p:cNvPr>
          <p:cNvPicPr>
            <a:picLocks noChangeAspect="1"/>
          </p:cNvPicPr>
          <p:nvPr userDrawn="1"/>
        </p:nvPicPr>
        <p:blipFill>
          <a:blip r:embed="rId3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0" y="419100"/>
            <a:ext cx="835269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88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  <p:sldLayoutId id="2147483757" r:id="rId31"/>
    <p:sldLayoutId id="2147483758" r:id="rId32"/>
    <p:sldLayoutId id="2147483759" r:id="rId33"/>
    <p:sldLayoutId id="2147483760" r:id="rId34"/>
    <p:sldLayoutId id="2147483761" r:id="rId35"/>
    <p:sldLayoutId id="2147483763" r:id="rId36"/>
  </p:sldLayoutIdLst>
  <p:hf hdr="0" ftr="0" dt="0"/>
  <p:txStyles>
    <p:titleStyle>
      <a:lvl1pPr marL="91440"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rgbClr val="002060"/>
        </a:buClr>
        <a:buFont typeface="Times New Roman" panose="02020603050405020304" pitchFamily="18" charset="0"/>
        <a:buChar char="●"/>
        <a:defRPr sz="20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1pPr>
      <a:lvl2pPr marL="693738" indent="-246063" algn="l" defTabSz="914400" rtl="0" eaLnBrk="1" latinLnBrk="0" hangingPunct="1">
        <a:lnSpc>
          <a:spcPct val="100000"/>
        </a:lnSpc>
        <a:spcBef>
          <a:spcPts val="400"/>
        </a:spcBef>
        <a:buClr>
          <a:srgbClr val="002060"/>
        </a:buClr>
        <a:buFont typeface="Times New Roman" panose="02020603050405020304" pitchFamily="18" charset="0"/>
        <a:buChar char="●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2pPr>
      <a:lvl3pPr marL="1150938" indent="-228600" algn="l" defTabSz="914400" rtl="0" eaLnBrk="1" latinLnBrk="0" hangingPunct="1">
        <a:lnSpc>
          <a:spcPct val="100000"/>
        </a:lnSpc>
        <a:spcBef>
          <a:spcPts val="400"/>
        </a:spcBef>
        <a:buClr>
          <a:srgbClr val="002060"/>
        </a:buClr>
        <a:buSzPct val="80000"/>
        <a:buFont typeface="Times New Roman" panose="02020603050405020304" pitchFamily="18" charset="0"/>
        <a:buChar char="●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3pPr>
      <a:lvl4pPr marL="1606550" indent="-227013" algn="l" defTabSz="914400" rtl="0" eaLnBrk="1" latinLnBrk="0" hangingPunct="1">
        <a:lnSpc>
          <a:spcPct val="100000"/>
        </a:lnSpc>
        <a:spcBef>
          <a:spcPts val="400"/>
        </a:spcBef>
        <a:buClr>
          <a:srgbClr val="002060"/>
        </a:buClr>
        <a:buSzPct val="80000"/>
        <a:buFont typeface="Times New Roman" panose="02020603050405020304" pitchFamily="18" charset="0"/>
        <a:buChar char="●"/>
        <a:tabLst/>
        <a:defRPr sz="1600" kern="120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4pPr>
      <a:lvl5pPr marL="2063750" indent="-228600" algn="l" defTabSz="914400" rtl="0" eaLnBrk="1" latinLnBrk="0" hangingPunct="1">
        <a:lnSpc>
          <a:spcPct val="100000"/>
        </a:lnSpc>
        <a:spcBef>
          <a:spcPts val="400"/>
        </a:spcBef>
        <a:buClr>
          <a:srgbClr val="002060"/>
        </a:buClr>
        <a:buFont typeface="Times New Roman" panose="02020603050405020304" pitchFamily="18" charset="0"/>
        <a:buChar char="●"/>
        <a:tabLst/>
        <a:defRPr sz="1600" kern="1200" baseline="0">
          <a:solidFill>
            <a:schemeClr val="tx2">
              <a:lumMod val="7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0" orient="horz" pos="264">
          <p15:clr>
            <a:srgbClr val="F26B43"/>
          </p15:clr>
        </p15:guide>
        <p15:guide id="11" pos="288">
          <p15:clr>
            <a:srgbClr val="F26B43"/>
          </p15:clr>
        </p15:guide>
        <p15:guide id="12" pos="7392">
          <p15:clr>
            <a:srgbClr val="F26B43"/>
          </p15:clr>
        </p15:guide>
        <p15:guide id="13" orient="horz" pos="3912">
          <p15:clr>
            <a:srgbClr val="F26B43"/>
          </p15:clr>
        </p15:guide>
        <p15:guide id="14" pos="3840">
          <p15:clr>
            <a:srgbClr val="F26B43"/>
          </p15:clr>
        </p15:guide>
        <p15:guide id="16" orient="horz" pos="936">
          <p15:clr>
            <a:srgbClr val="F26B43"/>
          </p15:clr>
        </p15:guide>
        <p15:guide id="17" pos="600">
          <p15:clr>
            <a:srgbClr val="F26B43"/>
          </p15:clr>
        </p15:guide>
        <p15:guide id="18" pos="7080">
          <p15:clr>
            <a:srgbClr val="F26B43"/>
          </p15:clr>
        </p15:guide>
        <p15:guide id="19" pos="4056">
          <p15:clr>
            <a:srgbClr val="F26B43"/>
          </p15:clr>
        </p15:guide>
        <p15:guide id="20" pos="3624">
          <p15:clr>
            <a:srgbClr val="F26B43"/>
          </p15:clr>
        </p15:guide>
        <p15:guide id="22" orient="horz" pos="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ellis37@jh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uang@jh.edu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ollama.loweffort.meme/" TargetMode="Externa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0FA2A-C8B4-6B39-624D-E18E159FA9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4B970D-BBA5-A488-95D9-94C216DF94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2826"/>
            <a:ext cx="5648093" cy="2303673"/>
          </a:xfrm>
          <a:noFill/>
        </p:spPr>
        <p:txBody>
          <a:bodyPr lIns="182880" anchor="ctr">
            <a:normAutofit/>
          </a:bodyPr>
          <a:lstStyle/>
          <a:p>
            <a:r>
              <a:rPr lang="en-US"/>
              <a:t>Byte-Sized Cooking: Recipes à la LLM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68F17C6-B45D-684E-B72F-A74CFA486F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083936"/>
              </p:ext>
            </p:extLst>
          </p:nvPr>
        </p:nvGraphicFramePr>
        <p:xfrm>
          <a:off x="976745" y="4361273"/>
          <a:ext cx="5357148" cy="741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0855">
                  <a:extLst>
                    <a:ext uri="{9D8B030D-6E8A-4147-A177-3AD203B41FA5}">
                      <a16:colId xmlns:a16="http://schemas.microsoft.com/office/drawing/2014/main" val="3125204499"/>
                    </a:ext>
                  </a:extLst>
                </a:gridCol>
                <a:gridCol w="2676293">
                  <a:extLst>
                    <a:ext uri="{9D8B030D-6E8A-4147-A177-3AD203B41FA5}">
                      <a16:colId xmlns:a16="http://schemas.microsoft.com/office/drawing/2014/main" val="34052940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99CCFF"/>
                          </a:solidFill>
                        </a:rPr>
                        <a:t>Scott Daniel Ellis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99CCFF"/>
                          </a:solidFill>
                        </a:rPr>
                        <a:t>Selena Huang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9230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sellis37@jh.edu</a:t>
                      </a:r>
                      <a:endParaRPr lang="en-US" sz="18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accent2">
                              <a:lumMod val="20000"/>
                              <a:lumOff val="80000"/>
                            </a:schemeClr>
                          </a:solidFill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shuan153@jh.edu</a:t>
                      </a:r>
                      <a:endParaRPr lang="en-US" sz="1800" dirty="0">
                        <a:solidFill>
                          <a:schemeClr val="accent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77772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3950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E6E8-5E69-9E93-B3DF-212FBD80E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 &amp; 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58CF6-4C13-A7D2-A76D-E9DC4D689A6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52500" y="1324598"/>
            <a:ext cx="10287000" cy="4885702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621490-D793-EE43-53AB-A8D78AB146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54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87E84-6599-284A-B545-B75FDF6C1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B9EA7-BB33-FB82-F195-5646FBC2E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6A378-5BA4-96E1-40C6-548A3A29BF9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D6FF9-6BC1-13C3-8422-3A3B6AC414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68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9E8B0-50B0-D19A-CE72-D703B0E04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9F55C-1CA7-34DE-215B-09E64C3A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B004C-B40F-CD63-CEDF-2100981C3DE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17BD5-F997-5648-2720-D3782AAA088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96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7DB92-C827-61A4-FC8F-2BBD56BAC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B346-F68E-F089-3D4D-782010FEE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1C3F1-A56B-F4AB-5F4E-C94A120635A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User specifies constraints: budget, calories, dietary rules, required ingredients.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Planner agent interprets and structures constraints.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LLM drafts a recipe.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Verifier agent analyzes:</a:t>
            </a:r>
          </a:p>
          <a:p>
            <a:pPr lvl="1"/>
            <a:r>
              <a:rPr lang="en-US" sz="1800" dirty="0"/>
              <a:t>Allergen/forbidden ingredient violations</a:t>
            </a:r>
          </a:p>
          <a:p>
            <a:pPr lvl="1"/>
            <a:r>
              <a:rPr lang="en-US" sz="1800" dirty="0"/>
              <a:t>Nutritional content</a:t>
            </a:r>
          </a:p>
          <a:p>
            <a:pPr lvl="1"/>
            <a:r>
              <a:rPr lang="en-US" sz="1800" dirty="0"/>
              <a:t>Estimated cost</a:t>
            </a:r>
          </a:p>
          <a:p>
            <a:pPr lvl="1"/>
            <a:r>
              <a:rPr lang="en-US" sz="1800" dirty="0"/>
              <a:t>Using FDC + Open Food Facts APIs. 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any violation: return structured feedback &gt; regenerate &gt; re-verify.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Terminate when all constraints satisfied.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0EEEE-FB26-50C3-AC20-B7E13F69962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6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8E34A-3337-0EF5-0B8B-A56B1840F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F5AA-A5CF-8244-C456-465DED349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FB8C4-1DA3-2121-6956-6B719205C05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6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DBFED61-1BDC-BC64-2889-2EC787516F6E}"/>
              </a:ext>
            </a:extLst>
          </p:cNvPr>
          <p:cNvGrpSpPr/>
          <p:nvPr/>
        </p:nvGrpSpPr>
        <p:grpSpPr>
          <a:xfrm>
            <a:off x="5093931" y="1771502"/>
            <a:ext cx="1735395" cy="553943"/>
            <a:chOff x="2947218" y="2238418"/>
            <a:chExt cx="1735395" cy="553943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AFC94195-8320-3A8C-626A-C6670674EF24}"/>
                </a:ext>
              </a:extLst>
            </p:cNvPr>
            <p:cNvCxnSpPr>
              <a:cxnSpLocks/>
            </p:cNvCxnSpPr>
            <p:nvPr/>
          </p:nvCxnSpPr>
          <p:spPr>
            <a:xfrm>
              <a:off x="3116826" y="2792361"/>
              <a:ext cx="13961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E0E3DA6-C434-E68A-F628-4E18D87B92D0}"/>
                </a:ext>
              </a:extLst>
            </p:cNvPr>
            <p:cNvSpPr txBox="1"/>
            <p:nvPr/>
          </p:nvSpPr>
          <p:spPr>
            <a:xfrm>
              <a:off x="2947218" y="2238418"/>
              <a:ext cx="1735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Fill out fields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F96A1AA-9AA4-EBEE-174D-7712FD185347}"/>
              </a:ext>
            </a:extLst>
          </p:cNvPr>
          <p:cNvGrpSpPr/>
          <p:nvPr/>
        </p:nvGrpSpPr>
        <p:grpSpPr>
          <a:xfrm>
            <a:off x="7081282" y="1327837"/>
            <a:ext cx="1538748" cy="1820212"/>
            <a:chOff x="5014452" y="2347452"/>
            <a:chExt cx="1538748" cy="1820212"/>
          </a:xfrm>
        </p:grpSpPr>
        <p:pic>
          <p:nvPicPr>
            <p:cNvPr id="22" name="Graphic 21" descr="Computer with solid fill">
              <a:extLst>
                <a:ext uri="{FF2B5EF4-FFF2-40B4-BE49-F238E27FC236}">
                  <a16:creationId xmlns:a16="http://schemas.microsoft.com/office/drawing/2014/main" id="{A79E5F8D-51D6-31BA-14E5-63E771FC9A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014452" y="2347452"/>
              <a:ext cx="1538748" cy="1538748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B62AF5-4D27-94A3-1D08-D9E0E4F10433}"/>
                </a:ext>
              </a:extLst>
            </p:cNvPr>
            <p:cNvSpPr txBox="1"/>
            <p:nvPr/>
          </p:nvSpPr>
          <p:spPr>
            <a:xfrm>
              <a:off x="5218471" y="3798332"/>
              <a:ext cx="1130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GUI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133C186-823B-BB92-A643-BCB3A1641FDB}"/>
              </a:ext>
            </a:extLst>
          </p:cNvPr>
          <p:cNvGrpSpPr/>
          <p:nvPr/>
        </p:nvGrpSpPr>
        <p:grpSpPr>
          <a:xfrm>
            <a:off x="6895112" y="4025435"/>
            <a:ext cx="1911088" cy="2052537"/>
            <a:chOff x="7257949" y="631581"/>
            <a:chExt cx="1911088" cy="2052537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4A7CA91-7321-5B6B-2BD0-8BE221A93D5C}"/>
                </a:ext>
              </a:extLst>
            </p:cNvPr>
            <p:cNvSpPr txBox="1"/>
            <p:nvPr/>
          </p:nvSpPr>
          <p:spPr>
            <a:xfrm>
              <a:off x="7257949" y="1760788"/>
              <a:ext cx="1911088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Recipe Generator</a:t>
              </a:r>
            </a:p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(gpt-oss:20b)</a:t>
              </a:r>
            </a:p>
          </p:txBody>
        </p:sp>
        <p:pic>
          <p:nvPicPr>
            <p:cNvPr id="19" name="Graphic 18" descr="Artificial Intelligence with solid fill">
              <a:extLst>
                <a:ext uri="{FF2B5EF4-FFF2-40B4-BE49-F238E27FC236}">
                  <a16:creationId xmlns:a16="http://schemas.microsoft.com/office/drawing/2014/main" id="{F4D1C405-3ABF-295D-BE29-EEEADCB28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649505" y="631581"/>
              <a:ext cx="1133087" cy="1133087"/>
            </a:xfrm>
            <a:prstGeom prst="rect">
              <a:avLst/>
            </a:prstGeom>
          </p:spPr>
        </p:pic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6290440-AE6D-DBDF-3C97-9AAC6A8E2D80}"/>
              </a:ext>
            </a:extLst>
          </p:cNvPr>
          <p:cNvGrpSpPr/>
          <p:nvPr/>
        </p:nvGrpSpPr>
        <p:grpSpPr>
          <a:xfrm>
            <a:off x="3574848" y="4021270"/>
            <a:ext cx="1538747" cy="2055410"/>
            <a:chOff x="3862842" y="-119202"/>
            <a:chExt cx="1538747" cy="2055410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CB67F8F-AE53-17EB-5C23-78250EB5B06C}"/>
                </a:ext>
              </a:extLst>
            </p:cNvPr>
            <p:cNvSpPr txBox="1"/>
            <p:nvPr/>
          </p:nvSpPr>
          <p:spPr>
            <a:xfrm>
              <a:off x="3862842" y="1012878"/>
              <a:ext cx="153874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Recipe</a:t>
              </a:r>
            </a:p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Validator</a:t>
              </a:r>
            </a:p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(qwen3:8b)</a:t>
              </a:r>
            </a:p>
          </p:txBody>
        </p:sp>
        <p:pic>
          <p:nvPicPr>
            <p:cNvPr id="17" name="Graphic 16" descr="Artificial Intelligence with solid fill">
              <a:extLst>
                <a:ext uri="{FF2B5EF4-FFF2-40B4-BE49-F238E27FC236}">
                  <a16:creationId xmlns:a16="http://schemas.microsoft.com/office/drawing/2014/main" id="{9DEFDB08-A5D2-E31C-35BF-8A8E61C5232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71848" y="-119202"/>
              <a:ext cx="1133087" cy="1133087"/>
            </a:xfrm>
            <a:prstGeom prst="rect">
              <a:avLst/>
            </a:prstGeom>
          </p:spPr>
        </p:pic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B52B527-8F18-8FDC-4F3E-FC0D6997295E}"/>
              </a:ext>
            </a:extLst>
          </p:cNvPr>
          <p:cNvGrpSpPr/>
          <p:nvPr/>
        </p:nvGrpSpPr>
        <p:grpSpPr>
          <a:xfrm>
            <a:off x="3683796" y="1457864"/>
            <a:ext cx="1320853" cy="1690185"/>
            <a:chOff x="1753393" y="1695191"/>
            <a:chExt cx="1320853" cy="1690185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D359B2-A2A2-4FAF-CB79-2B9338468CB6}"/>
                </a:ext>
              </a:extLst>
            </p:cNvPr>
            <p:cNvSpPr txBox="1"/>
            <p:nvPr/>
          </p:nvSpPr>
          <p:spPr>
            <a:xfrm>
              <a:off x="1848465" y="3016044"/>
              <a:ext cx="11307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accent1">
                      <a:lumMod val="50000"/>
                    </a:schemeClr>
                  </a:solidFill>
                </a:rPr>
                <a:t>User</a:t>
              </a:r>
            </a:p>
          </p:txBody>
        </p:sp>
        <p:pic>
          <p:nvPicPr>
            <p:cNvPr id="15" name="Graphic 14" descr="User with solid fill">
              <a:extLst>
                <a:ext uri="{FF2B5EF4-FFF2-40B4-BE49-F238E27FC236}">
                  <a16:creationId xmlns:a16="http://schemas.microsoft.com/office/drawing/2014/main" id="{BBFB6CF8-3985-C46C-A0BD-F234939824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753393" y="1695191"/>
              <a:ext cx="1320853" cy="1320853"/>
            </a:xfrm>
            <a:prstGeom prst="rect">
              <a:avLst/>
            </a:prstGeom>
          </p:spPr>
        </p:pic>
      </p:grp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E67A4B1-67B4-A1B0-DF84-6A48583A8506}"/>
              </a:ext>
            </a:extLst>
          </p:cNvPr>
          <p:cNvSpPr/>
          <p:nvPr/>
        </p:nvSpPr>
        <p:spPr>
          <a:xfrm>
            <a:off x="8962092" y="2140834"/>
            <a:ext cx="621816" cy="2831216"/>
          </a:xfrm>
          <a:custGeom>
            <a:avLst/>
            <a:gdLst>
              <a:gd name="connsiteX0" fmla="*/ 0 w 1097280"/>
              <a:gd name="connsiteY0" fmla="*/ 33251 h 3341717"/>
              <a:gd name="connsiteX1" fmla="*/ 1030779 w 1097280"/>
              <a:gd name="connsiteY1" fmla="*/ 0 h 3341717"/>
              <a:gd name="connsiteX2" fmla="*/ 1097280 w 1097280"/>
              <a:gd name="connsiteY2" fmla="*/ 3308466 h 3341717"/>
              <a:gd name="connsiteX3" fmla="*/ 0 w 1097280"/>
              <a:gd name="connsiteY3" fmla="*/ 3341717 h 3341717"/>
              <a:gd name="connsiteX0" fmla="*/ 0 w 1097280"/>
              <a:gd name="connsiteY0" fmla="*/ 4676 h 3341717"/>
              <a:gd name="connsiteX1" fmla="*/ 1030779 w 1097280"/>
              <a:gd name="connsiteY1" fmla="*/ 0 h 3341717"/>
              <a:gd name="connsiteX2" fmla="*/ 1097280 w 1097280"/>
              <a:gd name="connsiteY2" fmla="*/ 3308466 h 3341717"/>
              <a:gd name="connsiteX3" fmla="*/ 0 w 1097280"/>
              <a:gd name="connsiteY3" fmla="*/ 3341717 h 3341717"/>
              <a:gd name="connsiteX0" fmla="*/ 47625 w 1144905"/>
              <a:gd name="connsiteY0" fmla="*/ 4676 h 3313142"/>
              <a:gd name="connsiteX1" fmla="*/ 1078404 w 1144905"/>
              <a:gd name="connsiteY1" fmla="*/ 0 h 3313142"/>
              <a:gd name="connsiteX2" fmla="*/ 1144905 w 1144905"/>
              <a:gd name="connsiteY2" fmla="*/ 3308466 h 3313142"/>
              <a:gd name="connsiteX3" fmla="*/ 0 w 1144905"/>
              <a:gd name="connsiteY3" fmla="*/ 3313142 h 3313142"/>
              <a:gd name="connsiteX0" fmla="*/ 47625 w 1145079"/>
              <a:gd name="connsiteY0" fmla="*/ 4676 h 3313142"/>
              <a:gd name="connsiteX1" fmla="*/ 1145079 w 1145079"/>
              <a:gd name="connsiteY1" fmla="*/ 0 h 3313142"/>
              <a:gd name="connsiteX2" fmla="*/ 1144905 w 1145079"/>
              <a:gd name="connsiteY2" fmla="*/ 3308466 h 3313142"/>
              <a:gd name="connsiteX3" fmla="*/ 0 w 1145079"/>
              <a:gd name="connsiteY3" fmla="*/ 3313142 h 3313142"/>
              <a:gd name="connsiteX0" fmla="*/ 76200 w 1145079"/>
              <a:gd name="connsiteY0" fmla="*/ 4676 h 3313142"/>
              <a:gd name="connsiteX1" fmla="*/ 1145079 w 1145079"/>
              <a:gd name="connsiteY1" fmla="*/ 0 h 3313142"/>
              <a:gd name="connsiteX2" fmla="*/ 1144905 w 1145079"/>
              <a:gd name="connsiteY2" fmla="*/ 3308466 h 3313142"/>
              <a:gd name="connsiteX3" fmla="*/ 0 w 1145079"/>
              <a:gd name="connsiteY3" fmla="*/ 3313142 h 3313142"/>
              <a:gd name="connsiteX0" fmla="*/ 95250 w 1145079"/>
              <a:gd name="connsiteY0" fmla="*/ 4676 h 3313142"/>
              <a:gd name="connsiteX1" fmla="*/ 1145079 w 1145079"/>
              <a:gd name="connsiteY1" fmla="*/ 0 h 3313142"/>
              <a:gd name="connsiteX2" fmla="*/ 1144905 w 1145079"/>
              <a:gd name="connsiteY2" fmla="*/ 3308466 h 3313142"/>
              <a:gd name="connsiteX3" fmla="*/ 0 w 1145079"/>
              <a:gd name="connsiteY3" fmla="*/ 3313142 h 3313142"/>
              <a:gd name="connsiteX0" fmla="*/ 209550 w 1145079"/>
              <a:gd name="connsiteY0" fmla="*/ 0 h 3456103"/>
              <a:gd name="connsiteX1" fmla="*/ 1145079 w 1145079"/>
              <a:gd name="connsiteY1" fmla="*/ 142961 h 3456103"/>
              <a:gd name="connsiteX2" fmla="*/ 1144905 w 1145079"/>
              <a:gd name="connsiteY2" fmla="*/ 3451427 h 3456103"/>
              <a:gd name="connsiteX3" fmla="*/ 0 w 1145079"/>
              <a:gd name="connsiteY3" fmla="*/ 3456103 h 3456103"/>
              <a:gd name="connsiteX0" fmla="*/ 219075 w 1145079"/>
              <a:gd name="connsiteY0" fmla="*/ 0 h 3313228"/>
              <a:gd name="connsiteX1" fmla="*/ 1145079 w 1145079"/>
              <a:gd name="connsiteY1" fmla="*/ 86 h 3313228"/>
              <a:gd name="connsiteX2" fmla="*/ 1144905 w 1145079"/>
              <a:gd name="connsiteY2" fmla="*/ 3308552 h 3313228"/>
              <a:gd name="connsiteX3" fmla="*/ 0 w 1145079"/>
              <a:gd name="connsiteY3" fmla="*/ 3313228 h 3313228"/>
              <a:gd name="connsiteX0" fmla="*/ 57150 w 983154"/>
              <a:gd name="connsiteY0" fmla="*/ 0 h 3308552"/>
              <a:gd name="connsiteX1" fmla="*/ 983154 w 983154"/>
              <a:gd name="connsiteY1" fmla="*/ 86 h 3308552"/>
              <a:gd name="connsiteX2" fmla="*/ 982980 w 983154"/>
              <a:gd name="connsiteY2" fmla="*/ 3308552 h 3308552"/>
              <a:gd name="connsiteX3" fmla="*/ 0 w 983154"/>
              <a:gd name="connsiteY3" fmla="*/ 3308466 h 3308552"/>
              <a:gd name="connsiteX0" fmla="*/ 33337 w 959341"/>
              <a:gd name="connsiteY0" fmla="*/ 0 h 3308552"/>
              <a:gd name="connsiteX1" fmla="*/ 959341 w 959341"/>
              <a:gd name="connsiteY1" fmla="*/ 86 h 3308552"/>
              <a:gd name="connsiteX2" fmla="*/ 959167 w 959341"/>
              <a:gd name="connsiteY2" fmla="*/ 3308552 h 3308552"/>
              <a:gd name="connsiteX3" fmla="*/ 0 w 959341"/>
              <a:gd name="connsiteY3" fmla="*/ 3308466 h 3308552"/>
              <a:gd name="connsiteX0" fmla="*/ 4762 w 930766"/>
              <a:gd name="connsiteY0" fmla="*/ 0 h 3308552"/>
              <a:gd name="connsiteX1" fmla="*/ 930766 w 930766"/>
              <a:gd name="connsiteY1" fmla="*/ 86 h 3308552"/>
              <a:gd name="connsiteX2" fmla="*/ 930592 w 930766"/>
              <a:gd name="connsiteY2" fmla="*/ 3308552 h 3308552"/>
              <a:gd name="connsiteX3" fmla="*/ 0 w 930766"/>
              <a:gd name="connsiteY3" fmla="*/ 3308466 h 3308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766" h="3308552">
                <a:moveTo>
                  <a:pt x="4762" y="0"/>
                </a:moveTo>
                <a:lnTo>
                  <a:pt x="930766" y="86"/>
                </a:lnTo>
                <a:lnTo>
                  <a:pt x="930592" y="3308552"/>
                </a:lnTo>
                <a:lnTo>
                  <a:pt x="0" y="3308466"/>
                </a:ln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59D40F5-8AB0-2D36-EA85-3577A4E025B8}"/>
              </a:ext>
            </a:extLst>
          </p:cNvPr>
          <p:cNvSpPr txBox="1"/>
          <p:nvPr/>
        </p:nvSpPr>
        <p:spPr>
          <a:xfrm>
            <a:off x="9504105" y="3233276"/>
            <a:ext cx="1735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Structured Prompt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961F29F-5836-E899-B7C4-9E714E8123AB}"/>
              </a:ext>
            </a:extLst>
          </p:cNvPr>
          <p:cNvSpPr/>
          <p:nvPr/>
        </p:nvSpPr>
        <p:spPr>
          <a:xfrm rot="10800000">
            <a:off x="2966909" y="2140834"/>
            <a:ext cx="621816" cy="2831216"/>
          </a:xfrm>
          <a:custGeom>
            <a:avLst/>
            <a:gdLst>
              <a:gd name="connsiteX0" fmla="*/ 0 w 1097280"/>
              <a:gd name="connsiteY0" fmla="*/ 33251 h 3341717"/>
              <a:gd name="connsiteX1" fmla="*/ 1030779 w 1097280"/>
              <a:gd name="connsiteY1" fmla="*/ 0 h 3341717"/>
              <a:gd name="connsiteX2" fmla="*/ 1097280 w 1097280"/>
              <a:gd name="connsiteY2" fmla="*/ 3308466 h 3341717"/>
              <a:gd name="connsiteX3" fmla="*/ 0 w 1097280"/>
              <a:gd name="connsiteY3" fmla="*/ 3341717 h 3341717"/>
              <a:gd name="connsiteX0" fmla="*/ 0 w 1097280"/>
              <a:gd name="connsiteY0" fmla="*/ 4676 h 3341717"/>
              <a:gd name="connsiteX1" fmla="*/ 1030779 w 1097280"/>
              <a:gd name="connsiteY1" fmla="*/ 0 h 3341717"/>
              <a:gd name="connsiteX2" fmla="*/ 1097280 w 1097280"/>
              <a:gd name="connsiteY2" fmla="*/ 3308466 h 3341717"/>
              <a:gd name="connsiteX3" fmla="*/ 0 w 1097280"/>
              <a:gd name="connsiteY3" fmla="*/ 3341717 h 3341717"/>
              <a:gd name="connsiteX0" fmla="*/ 47625 w 1144905"/>
              <a:gd name="connsiteY0" fmla="*/ 4676 h 3313142"/>
              <a:gd name="connsiteX1" fmla="*/ 1078404 w 1144905"/>
              <a:gd name="connsiteY1" fmla="*/ 0 h 3313142"/>
              <a:gd name="connsiteX2" fmla="*/ 1144905 w 1144905"/>
              <a:gd name="connsiteY2" fmla="*/ 3308466 h 3313142"/>
              <a:gd name="connsiteX3" fmla="*/ 0 w 1144905"/>
              <a:gd name="connsiteY3" fmla="*/ 3313142 h 3313142"/>
              <a:gd name="connsiteX0" fmla="*/ 47625 w 1145079"/>
              <a:gd name="connsiteY0" fmla="*/ 4676 h 3313142"/>
              <a:gd name="connsiteX1" fmla="*/ 1145079 w 1145079"/>
              <a:gd name="connsiteY1" fmla="*/ 0 h 3313142"/>
              <a:gd name="connsiteX2" fmla="*/ 1144905 w 1145079"/>
              <a:gd name="connsiteY2" fmla="*/ 3308466 h 3313142"/>
              <a:gd name="connsiteX3" fmla="*/ 0 w 1145079"/>
              <a:gd name="connsiteY3" fmla="*/ 3313142 h 3313142"/>
              <a:gd name="connsiteX0" fmla="*/ 76200 w 1145079"/>
              <a:gd name="connsiteY0" fmla="*/ 4676 h 3313142"/>
              <a:gd name="connsiteX1" fmla="*/ 1145079 w 1145079"/>
              <a:gd name="connsiteY1" fmla="*/ 0 h 3313142"/>
              <a:gd name="connsiteX2" fmla="*/ 1144905 w 1145079"/>
              <a:gd name="connsiteY2" fmla="*/ 3308466 h 3313142"/>
              <a:gd name="connsiteX3" fmla="*/ 0 w 1145079"/>
              <a:gd name="connsiteY3" fmla="*/ 3313142 h 3313142"/>
              <a:gd name="connsiteX0" fmla="*/ 95250 w 1145079"/>
              <a:gd name="connsiteY0" fmla="*/ 4676 h 3313142"/>
              <a:gd name="connsiteX1" fmla="*/ 1145079 w 1145079"/>
              <a:gd name="connsiteY1" fmla="*/ 0 h 3313142"/>
              <a:gd name="connsiteX2" fmla="*/ 1144905 w 1145079"/>
              <a:gd name="connsiteY2" fmla="*/ 3308466 h 3313142"/>
              <a:gd name="connsiteX3" fmla="*/ 0 w 1145079"/>
              <a:gd name="connsiteY3" fmla="*/ 3313142 h 3313142"/>
              <a:gd name="connsiteX0" fmla="*/ 209550 w 1145079"/>
              <a:gd name="connsiteY0" fmla="*/ 0 h 3456103"/>
              <a:gd name="connsiteX1" fmla="*/ 1145079 w 1145079"/>
              <a:gd name="connsiteY1" fmla="*/ 142961 h 3456103"/>
              <a:gd name="connsiteX2" fmla="*/ 1144905 w 1145079"/>
              <a:gd name="connsiteY2" fmla="*/ 3451427 h 3456103"/>
              <a:gd name="connsiteX3" fmla="*/ 0 w 1145079"/>
              <a:gd name="connsiteY3" fmla="*/ 3456103 h 3456103"/>
              <a:gd name="connsiteX0" fmla="*/ 219075 w 1145079"/>
              <a:gd name="connsiteY0" fmla="*/ 0 h 3313228"/>
              <a:gd name="connsiteX1" fmla="*/ 1145079 w 1145079"/>
              <a:gd name="connsiteY1" fmla="*/ 86 h 3313228"/>
              <a:gd name="connsiteX2" fmla="*/ 1144905 w 1145079"/>
              <a:gd name="connsiteY2" fmla="*/ 3308552 h 3313228"/>
              <a:gd name="connsiteX3" fmla="*/ 0 w 1145079"/>
              <a:gd name="connsiteY3" fmla="*/ 3313228 h 3313228"/>
              <a:gd name="connsiteX0" fmla="*/ 57150 w 983154"/>
              <a:gd name="connsiteY0" fmla="*/ 0 h 3308552"/>
              <a:gd name="connsiteX1" fmla="*/ 983154 w 983154"/>
              <a:gd name="connsiteY1" fmla="*/ 86 h 3308552"/>
              <a:gd name="connsiteX2" fmla="*/ 982980 w 983154"/>
              <a:gd name="connsiteY2" fmla="*/ 3308552 h 3308552"/>
              <a:gd name="connsiteX3" fmla="*/ 0 w 983154"/>
              <a:gd name="connsiteY3" fmla="*/ 3308466 h 3308552"/>
              <a:gd name="connsiteX0" fmla="*/ 33337 w 959341"/>
              <a:gd name="connsiteY0" fmla="*/ 0 h 3308552"/>
              <a:gd name="connsiteX1" fmla="*/ 959341 w 959341"/>
              <a:gd name="connsiteY1" fmla="*/ 86 h 3308552"/>
              <a:gd name="connsiteX2" fmla="*/ 959167 w 959341"/>
              <a:gd name="connsiteY2" fmla="*/ 3308552 h 3308552"/>
              <a:gd name="connsiteX3" fmla="*/ 0 w 959341"/>
              <a:gd name="connsiteY3" fmla="*/ 3308466 h 3308552"/>
              <a:gd name="connsiteX0" fmla="*/ 4762 w 930766"/>
              <a:gd name="connsiteY0" fmla="*/ 0 h 3308552"/>
              <a:gd name="connsiteX1" fmla="*/ 930766 w 930766"/>
              <a:gd name="connsiteY1" fmla="*/ 86 h 3308552"/>
              <a:gd name="connsiteX2" fmla="*/ 930592 w 930766"/>
              <a:gd name="connsiteY2" fmla="*/ 3308552 h 3308552"/>
              <a:gd name="connsiteX3" fmla="*/ 0 w 930766"/>
              <a:gd name="connsiteY3" fmla="*/ 3308466 h 3308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30766" h="3308552">
                <a:moveTo>
                  <a:pt x="4762" y="0"/>
                </a:moveTo>
                <a:lnTo>
                  <a:pt x="930766" y="86"/>
                </a:lnTo>
                <a:lnTo>
                  <a:pt x="930592" y="3308552"/>
                </a:lnTo>
                <a:lnTo>
                  <a:pt x="0" y="3308466"/>
                </a:lnTo>
              </a:path>
            </a:pathLst>
          </a:custGeom>
          <a:noFill/>
          <a:ln w="381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C7454F3-8C1E-8EAC-332D-A09EC7FD2EDF}"/>
              </a:ext>
            </a:extLst>
          </p:cNvPr>
          <p:cNvSpPr txBox="1"/>
          <p:nvPr/>
        </p:nvSpPr>
        <p:spPr>
          <a:xfrm>
            <a:off x="1231513" y="3371775"/>
            <a:ext cx="173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Final recipe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FE13C028-8EFB-E5E7-3191-67F40615B52E}"/>
              </a:ext>
            </a:extLst>
          </p:cNvPr>
          <p:cNvGrpSpPr/>
          <p:nvPr/>
        </p:nvGrpSpPr>
        <p:grpSpPr>
          <a:xfrm>
            <a:off x="5433146" y="4717167"/>
            <a:ext cx="1396180" cy="236780"/>
            <a:chOff x="5498932" y="4601920"/>
            <a:chExt cx="1396180" cy="236780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FA95CC23-198B-613B-7E6C-2204577C2343}"/>
                </a:ext>
              </a:extLst>
            </p:cNvPr>
            <p:cNvCxnSpPr>
              <a:cxnSpLocks/>
            </p:cNvCxnSpPr>
            <p:nvPr/>
          </p:nvCxnSpPr>
          <p:spPr>
            <a:xfrm>
              <a:off x="5498932" y="4601920"/>
              <a:ext cx="13961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529AF24-9FE4-55BE-29C1-E4D592B1E8EF}"/>
                </a:ext>
              </a:extLst>
            </p:cNvPr>
            <p:cNvCxnSpPr>
              <a:cxnSpLocks/>
            </p:cNvCxnSpPr>
            <p:nvPr/>
          </p:nvCxnSpPr>
          <p:spPr>
            <a:xfrm>
              <a:off x="5498932" y="4838700"/>
              <a:ext cx="1396180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02430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CDA6E-624D-8838-E7EC-3A0F0C388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28FE-B017-64EF-9129-C99403F7F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80438-2EDF-6534-CEEC-0D0CD7C3151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Planner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Generator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Verifier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D9C23-D845-D10D-78F6-DAAAD12DE9E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35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2D8F-521F-540E-3E17-94A81637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DC267-34B6-43E2-E65E-9E4817E90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Components: Dietary Restrictions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5D505-689E-CF50-838B-DABA2F830C2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609F4-30E2-830D-E3D5-7AD5FC7659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79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A28E-9B4B-EDCE-3E00-0029D145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087CB-E922-3428-542D-2BCDD6406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Components: Nutrition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47E49-102F-56F7-5654-D052E1FBFB9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A9E19-255F-7CD8-6FEB-42BFE248E73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753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0DAB3-FA92-D0F3-6B47-09867EE9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F458-2B90-E3D7-9DD5-54E3D1DC3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Components: Budgetary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8170A-3079-F531-406A-A4EDA5418E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CECCE-59BE-4B75-D669-2C062EF7BEF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23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844B7-5663-8840-8379-0B791AB32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C5AE0-59AD-3D48-CF71-BD2FB19A7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6BBFE-C614-0025-A823-D573552CCE7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Tested different base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E177E-780E-B31D-266D-54529D2662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4BEEC-D22F-3ACF-F556-84A771EBAE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7129962"/>
              </p:ext>
            </p:extLst>
          </p:nvPr>
        </p:nvGraphicFramePr>
        <p:xfrm>
          <a:off x="1954281" y="3257341"/>
          <a:ext cx="8283438" cy="2505075"/>
        </p:xfrm>
        <a:graphic>
          <a:graphicData uri="http://schemas.openxmlformats.org/drawingml/2006/table">
            <a:tbl>
              <a:tblPr/>
              <a:tblGrid>
                <a:gridCol w="1007994">
                  <a:extLst>
                    <a:ext uri="{9D8B030D-6E8A-4147-A177-3AD203B41FA5}">
                      <a16:colId xmlns:a16="http://schemas.microsoft.com/office/drawing/2014/main" val="3229122390"/>
                    </a:ext>
                  </a:extLst>
                </a:gridCol>
                <a:gridCol w="596348">
                  <a:extLst>
                    <a:ext uri="{9D8B030D-6E8A-4147-A177-3AD203B41FA5}">
                      <a16:colId xmlns:a16="http://schemas.microsoft.com/office/drawing/2014/main" val="3348301737"/>
                    </a:ext>
                  </a:extLst>
                </a:gridCol>
                <a:gridCol w="2146852">
                  <a:extLst>
                    <a:ext uri="{9D8B030D-6E8A-4147-A177-3AD203B41FA5}">
                      <a16:colId xmlns:a16="http://schemas.microsoft.com/office/drawing/2014/main" val="1734176775"/>
                    </a:ext>
                  </a:extLst>
                </a:gridCol>
                <a:gridCol w="1023731">
                  <a:extLst>
                    <a:ext uri="{9D8B030D-6E8A-4147-A177-3AD203B41FA5}">
                      <a16:colId xmlns:a16="http://schemas.microsoft.com/office/drawing/2014/main" val="2235740553"/>
                    </a:ext>
                  </a:extLst>
                </a:gridCol>
                <a:gridCol w="3508513">
                  <a:extLst>
                    <a:ext uri="{9D8B030D-6E8A-4147-A177-3AD203B41FA5}">
                      <a16:colId xmlns:a16="http://schemas.microsoft.com/office/drawing/2014/main" val="3939053188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Model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Size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Response Time (s)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Std Dev (s)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Key Notes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689647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GPT-OSS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Strong baseline model; good speed and quality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6794688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120B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Slowest; large-scale reasoning; heavy GPU load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285734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Qwen 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Lightweight; very efficient small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0269638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Fast and stable; great quality-to-latency ratio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4042992"/>
                  </a:ext>
                </a:extLst>
              </a:tr>
              <a:tr h="20002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Gemma 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Reliable mid-range model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1983873"/>
                  </a:ext>
                </a:extLst>
              </a:tr>
              <a:tr h="209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27B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Good quality but slower due to size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74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37896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9C502-5161-0245-3A73-1837820C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FF0A0-FACB-5196-44BD-1DEDE32F3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Infrastructure: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C5012-DC73-04C2-A536-D732522C9D3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DNS Configuration</a:t>
            </a:r>
            <a:endParaRPr lang="en-US" dirty="0"/>
          </a:p>
          <a:p>
            <a:pPr lvl="1"/>
            <a:r>
              <a:rPr lang="en-US" dirty="0"/>
              <a:t>Set up a custom DNS record to point clients (local + remote) to the home server</a:t>
            </a:r>
          </a:p>
          <a:p>
            <a:pPr lvl="1"/>
            <a:r>
              <a:rPr lang="en-US" dirty="0"/>
              <a:t>Wrote a shell script to automatically update the DNS record whenever the public IP changes</a:t>
            </a:r>
          </a:p>
          <a:p>
            <a:pPr lvl="1"/>
            <a:r>
              <a:rPr lang="en-US" dirty="0">
                <a:hlinkClick r:id="rId2"/>
              </a:rPr>
              <a:t>https://ollama.loweffort.meme</a:t>
            </a:r>
            <a:endParaRPr lang="en-US" dirty="0"/>
          </a:p>
          <a:p>
            <a:endParaRPr lang="en-US" b="1" dirty="0"/>
          </a:p>
          <a:p>
            <a:r>
              <a:rPr lang="en-US" b="1" dirty="0"/>
              <a:t>Caddy Reverse Proxy</a:t>
            </a:r>
            <a:endParaRPr lang="en-US" dirty="0"/>
          </a:p>
          <a:p>
            <a:pPr lvl="1"/>
            <a:r>
              <a:rPr lang="en-US" dirty="0"/>
              <a:t>Configured Caddy to handle HTTPS termination and route traffic to the </a:t>
            </a:r>
            <a:r>
              <a:rPr lang="en-US" dirty="0" err="1"/>
              <a:t>Ollama</a:t>
            </a:r>
            <a:r>
              <a:rPr lang="en-US" dirty="0"/>
              <a:t> backend</a:t>
            </a:r>
          </a:p>
          <a:p>
            <a:pPr lvl="1"/>
            <a:r>
              <a:rPr lang="en-US" dirty="0"/>
              <a:t>Set up automatic startup on boot to ensure the AI service stays available</a:t>
            </a:r>
          </a:p>
          <a:p>
            <a:pPr lvl="1"/>
            <a:r>
              <a:rPr lang="en-US" dirty="0"/>
              <a:t>Handles remote access safely without manual port forwarding management</a:t>
            </a:r>
          </a:p>
          <a:p>
            <a:endParaRPr lang="en-US" b="1" dirty="0"/>
          </a:p>
          <a:p>
            <a:r>
              <a:rPr lang="en-US" b="1" dirty="0" err="1"/>
              <a:t>Ollama</a:t>
            </a:r>
            <a:r>
              <a:rPr lang="en-US" b="1" dirty="0"/>
              <a:t> Server</a:t>
            </a:r>
            <a:endParaRPr lang="en-US" dirty="0"/>
          </a:p>
          <a:p>
            <a:pPr lvl="1"/>
            <a:r>
              <a:rPr lang="en-US" dirty="0"/>
              <a:t>Hosted multiple models (4B–120B scale) on the dedicated machine</a:t>
            </a:r>
          </a:p>
          <a:p>
            <a:pPr lvl="1"/>
            <a:r>
              <a:rPr lang="en-US" dirty="0"/>
              <a:t>Configured to start automatically at system boot for uninterrupted benchmarking</a:t>
            </a:r>
          </a:p>
          <a:p>
            <a:pPr lvl="1"/>
            <a:r>
              <a:rPr lang="en-US" dirty="0"/>
              <a:t>Future upgrade: add API key authentication for controlled remote access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70D1A0-36B7-1888-FFFA-09A46E769FB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35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7B34-7566-6C1C-3E73-31DD7B6F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1FA92-F35F-8FA4-78C5-AEA23F397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Infrastructure: Hardware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7507F7-5773-D64A-AA0F-35A2797879D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Server Machine</a:t>
            </a:r>
          </a:p>
          <a:p>
            <a:pPr lvl="1"/>
            <a:r>
              <a:rPr lang="en-US" dirty="0"/>
              <a:t>Runs the model backend used throughout testing</a:t>
            </a:r>
          </a:p>
          <a:p>
            <a:pPr lvl="1"/>
            <a:r>
              <a:rPr lang="en-US" dirty="0"/>
              <a:t>Configured for persistent hosting and remote inference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b="1" dirty="0"/>
              <a:t>NVIDIA GeForce RTX 3090</a:t>
            </a:r>
          </a:p>
          <a:p>
            <a:pPr lvl="1"/>
            <a:r>
              <a:rPr lang="en-US" dirty="0"/>
              <a:t>Excellent performance on large-parameter models (likely due to it’s 24GB VRAM)</a:t>
            </a:r>
          </a:p>
          <a:p>
            <a:pPr lvl="1"/>
            <a:r>
              <a:rPr lang="en-US" dirty="0"/>
              <a:t>Strong sustained throughput for longer generations</a:t>
            </a:r>
          </a:p>
          <a:p>
            <a:pPr lvl="1"/>
            <a:r>
              <a:rPr lang="en-US" dirty="0"/>
              <a:t>Slightly slower initial response time but very stable under heavy load</a:t>
            </a:r>
          </a:p>
          <a:p>
            <a:pPr marL="0" indent="0">
              <a:buNone/>
            </a:pPr>
            <a:endParaRPr lang="en-US" sz="1600" dirty="0"/>
          </a:p>
          <a:p>
            <a:r>
              <a:rPr lang="en-US" b="1" dirty="0"/>
              <a:t>NVIDIA GeForce RTX 4080</a:t>
            </a:r>
          </a:p>
          <a:p>
            <a:pPr lvl="1"/>
            <a:r>
              <a:rPr lang="en-US" dirty="0"/>
              <a:t>Faster per-token generation speed on small to mid-sized models</a:t>
            </a:r>
          </a:p>
          <a:p>
            <a:pPr lvl="1"/>
            <a:r>
              <a:rPr lang="en-US" dirty="0"/>
              <a:t>More efficient power usage and lower heat under similar workloads</a:t>
            </a:r>
          </a:p>
          <a:p>
            <a:pPr lvl="1"/>
            <a:r>
              <a:rPr lang="en-US" dirty="0"/>
              <a:t>Limited by 16GB VRAM for the very largest models, but outperforming 3090 on moderate 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D22345-DF86-CCE8-B098-144EFCECA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50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C8D11-1520-68F2-336F-7CFA4BBF9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B34D4-D4CA-7A39-64DD-1ECD1F8B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Evaluation Strategy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98724-A7A3-4D16-6438-54FAA6C266B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A826FA-C0EE-7DC0-9B80-D776C52549B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61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05AE4-85F2-2FD5-D728-0518715EB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758E9-5108-B1EA-1341-ECD0887FA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C10AB-3CE6-88D0-BAA6-0174F5F98FE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8614FA-6146-8E06-AAF3-3107C7BDF6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481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09B4D-C41B-2CBB-3A91-94B0735EA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87548-4455-4FC0-C963-2B79944CEC8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384931-BE34-F3A6-48A0-373F20BF3C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266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2B5EE-18E7-2B0A-E84F-4068393D7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0A958-0516-E495-1007-E091ABB97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3C70C-4451-4ED8-5378-EF54AD5079F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0FE2C7-42C6-E0D0-067C-BC24F4996D9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8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4DE8E-80BD-DAAB-A8E3-897568789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2ADD0F-07E9-CBAF-CDEC-711D47674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FCAD-823A-476E-8B64-08133BA4013A}" type="slidenum">
              <a:rPr lang="en-US" smtClean="0">
                <a:solidFill>
                  <a:schemeClr val="bg1"/>
                </a:solidFill>
              </a:rPr>
              <a:t>18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8702C09-C51E-F179-24C4-8EC9C82F5E0B}"/>
              </a:ext>
            </a:extLst>
          </p:cNvPr>
          <p:cNvSpPr txBox="1">
            <a:spLocks/>
          </p:cNvSpPr>
          <p:nvPr/>
        </p:nvSpPr>
        <p:spPr>
          <a:xfrm>
            <a:off x="952500" y="3048000"/>
            <a:ext cx="10287000" cy="76200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dirty="0">
                <a:solidFill>
                  <a:schemeClr val="bg1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29840693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8411A-A43C-8A1F-183E-03F38A90A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8F3A7-40C3-3C67-A2F6-C2BE95A09F6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https://fdc.nal.usda.gov/api-guide</a:t>
            </a:r>
          </a:p>
          <a:p>
            <a:pPr>
              <a:lnSpc>
                <a:spcPct val="110000"/>
              </a:lnSpc>
            </a:pP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115B0-3558-3FB8-8E06-BF0ED8DD29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2D3FCAD-823A-476E-8B64-08133BA4013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134003"/>
      </p:ext>
    </p:extLst>
  </p:cSld>
  <p:clrMapOvr>
    <a:masterClrMapping/>
  </p:clrMapOvr>
</p:sld>
</file>

<file path=ppt/theme/theme1.xml><?xml version="1.0" encoding="utf-8"?>
<a:theme xmlns:a="http://schemas.openxmlformats.org/drawingml/2006/main" name="APL-PowerPoint-Theme_light">
  <a:themeElements>
    <a:clrScheme name="Custom 2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2C73"/>
      </a:accent1>
      <a:accent2>
        <a:srgbClr val="3E8EDE"/>
      </a:accent2>
      <a:accent3>
        <a:srgbClr val="74AA50"/>
      </a:accent3>
      <a:accent4>
        <a:srgbClr val="D2D755"/>
      </a:accent4>
      <a:accent5>
        <a:srgbClr val="FF9E16"/>
      </a:accent5>
      <a:accent6>
        <a:srgbClr val="E03C30"/>
      </a:accent6>
      <a:hlink>
        <a:srgbClr val="0537FF"/>
      </a:hlink>
      <a:folHlink>
        <a:srgbClr val="953A7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solidFill>
            <a:schemeClr val="accent1"/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rmAutofit/>
      </a:bodyPr>
      <a:lstStyle>
        <a:defPPr algn="ctr">
          <a:defRPr sz="20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>
          <a:defRPr sz="2000" dirty="0" err="1" smtClean="0">
            <a:solidFill>
              <a:schemeClr val="tx2">
                <a:lumMod val="7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CG_AprilUpdates_v4" id="{D91A69F9-45B7-144C-A52B-8A1F3AE63104}" vid="{F0E5A7C5-53EF-8E4D-BBE4-F394812935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APL-PowerPoint-Theme_light</Template>
  <TotalTime>83</TotalTime>
  <Words>474</Words>
  <Application>Microsoft Office PowerPoint</Application>
  <PresentationFormat>Widescreen</PresentationFormat>
  <Paragraphs>133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 Narrow</vt:lpstr>
      <vt:lpstr>Arial</vt:lpstr>
      <vt:lpstr>Calibri</vt:lpstr>
      <vt:lpstr>Helvetica</vt:lpstr>
      <vt:lpstr>Times New Roman</vt:lpstr>
      <vt:lpstr>APL-PowerPoint-Theme_light</vt:lpstr>
      <vt:lpstr>Byte-Sized Cooking: Recipes à la LLM</vt:lpstr>
      <vt:lpstr>Motivation &amp; Problem Definition</vt:lpstr>
      <vt:lpstr>Project Objectives</vt:lpstr>
      <vt:lpstr>Related Work</vt:lpstr>
      <vt:lpstr>System Architecture</vt:lpstr>
      <vt:lpstr>Pipeline</vt:lpstr>
      <vt:lpstr>Agent Roles</vt:lpstr>
      <vt:lpstr>Core Components: Dietary Restrictions</vt:lpstr>
      <vt:lpstr>Core Components: Nutrition Information</vt:lpstr>
      <vt:lpstr>Core Components: Budgetary Constraints</vt:lpstr>
      <vt:lpstr>Implementation Details</vt:lpstr>
      <vt:lpstr>Infrastructure: Software</vt:lpstr>
      <vt:lpstr>Infrastructure: Hardware</vt:lpstr>
      <vt:lpstr>Evaluation Strategy</vt:lpstr>
      <vt:lpstr>Results</vt:lpstr>
      <vt:lpstr>Limitations</vt:lpstr>
      <vt:lpstr>Conclusion</vt:lpstr>
      <vt:lpstr>PowerPoint Presentation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Scott Ellis</cp:lastModifiedBy>
  <cp:revision>9</cp:revision>
  <dcterms:created xsi:type="dcterms:W3CDTF">2025-09-30T01:44:37Z</dcterms:created>
  <dcterms:modified xsi:type="dcterms:W3CDTF">2025-12-02T01:58:19Z</dcterms:modified>
</cp:coreProperties>
</file>